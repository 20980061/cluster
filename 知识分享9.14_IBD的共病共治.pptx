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419" r:id="rId5"/>
    <p:sldId id="422" r:id="rId6"/>
    <p:sldId id="412" r:id="rId7"/>
    <p:sldId id="420" r:id="rId8"/>
    <p:sldId id="421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34" r:id="rId21"/>
    <p:sldId id="435" r:id="rId22"/>
    <p:sldId id="436" r:id="rId23"/>
    <p:sldId id="413" r:id="rId24"/>
    <p:sldId id="414" r:id="rId25"/>
    <p:sldId id="415" r:id="rId26"/>
    <p:sldId id="406" r:id="rId27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rong Chen" initials="Chen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3051"/>
    <a:srgbClr val="87415F"/>
    <a:srgbClr val="FFF6EC"/>
    <a:srgbClr val="F3F3F3"/>
    <a:srgbClr val="E2F0D9"/>
    <a:srgbClr val="FBE5D6"/>
    <a:srgbClr val="FFF2CC"/>
    <a:srgbClr val="993F70"/>
    <a:srgbClr val="96375A"/>
    <a:srgbClr val="893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20" autoAdjust="0"/>
    <p:restoredTop sz="88639" autoAdjust="0"/>
  </p:normalViewPr>
  <p:slideViewPr>
    <p:cSldViewPr snapToGrid="0" showGuides="1">
      <p:cViewPr varScale="1">
        <p:scale>
          <a:sx n="101" d="100"/>
          <a:sy n="101" d="100"/>
        </p:scale>
        <p:origin x="1338" y="102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79BC3-7F3D-48AF-B3B5-B3739F8935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39401-49A5-4516-A68F-54744A6B4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9A888-F0A6-497F-A203-744BF10280C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5466275" y="4801358"/>
            <a:ext cx="1967163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透明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973" y="161942"/>
            <a:ext cx="1545039" cy="156057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-15240" y="2007570"/>
            <a:ext cx="12191999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5400" b="1" dirty="0">
                <a:solidFill>
                  <a:srgbClr val="87415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IBD</a:t>
            </a:r>
            <a:r>
              <a:rPr lang="zh-CN" altLang="en-US" sz="5400" b="1" dirty="0">
                <a:solidFill>
                  <a:srgbClr val="87415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的共病共治</a:t>
            </a:r>
            <a:endParaRPr lang="zh-CN" altLang="en-US" sz="5400" b="1" dirty="0">
              <a:solidFill>
                <a:srgbClr val="87415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3778976"/>
            <a:ext cx="12199621" cy="1983871"/>
          </a:xfrm>
          <a:prstGeom prst="rect">
            <a:avLst/>
          </a:prstGeom>
          <a:solidFill>
            <a:srgbClr val="874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4" name="TextBox 32"/>
          <p:cNvSpPr txBox="1"/>
          <p:nvPr/>
        </p:nvSpPr>
        <p:spPr>
          <a:xfrm>
            <a:off x="22863" y="4052245"/>
            <a:ext cx="12191999" cy="1291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黄品玮</a:t>
            </a:r>
            <a:endParaRPr lang="zh-CN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2025年9月14日</a:t>
            </a:r>
            <a:endParaRPr lang="en-US" altLang="zh-CN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4" name="TextBox 127">
            <a:hlinkClick r:id="" action="ppaction://hlinkshowjump?jump=nextslide"/>
          </p:cNvPr>
          <p:cNvSpPr txBox="1"/>
          <p:nvPr/>
        </p:nvSpPr>
        <p:spPr>
          <a:xfrm>
            <a:off x="925195" y="1548130"/>
            <a:ext cx="9958070" cy="2744470"/>
          </a:xfrm>
          <a:prstGeom prst="rect">
            <a:avLst/>
          </a:prstGeom>
          <a:noFill/>
        </p:spPr>
        <p:txBody>
          <a:bodyPr wrap="square" lIns="68564" tIns="34282" rIns="68564" bIns="34282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共病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两种或以上的疾病之间的关联，可能没有直接的因果关系，而是同时存在。即使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IBD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处于缓解期，这些疾病仍可持续存在或进展，通常需要分别针对每种疾病进行独立治疗。共病的存在会使得机体或器官功能下降、疾病结局复杂化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Box 127">
            <a:hlinkClick r:id="" action="ppaction://hlinkshowjump?jump=nextslide"/>
          </p:cNvPr>
          <p:cNvSpPr txBox="1"/>
          <p:nvPr/>
        </p:nvSpPr>
        <p:spPr>
          <a:xfrm>
            <a:off x="925030" y="1547827"/>
            <a:ext cx="9654363" cy="2652395"/>
          </a:xfrm>
          <a:prstGeom prst="rect">
            <a:avLst/>
          </a:prstGeom>
          <a:noFill/>
        </p:spPr>
        <p:txBody>
          <a:bodyPr wrap="square" lIns="68564" tIns="34282" rIns="68564" bIns="34282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银屑病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脊柱关节病（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SpA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原发性硬化性胆管炎（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PSC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IgA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肾病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与银屑病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671830" y="2655570"/>
            <a:ext cx="3110865" cy="23183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981825" y="295402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俗称“牛皮癣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”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慢性炎症性皮肤病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常表现为头、四肢、躯干的红斑、银屑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3782695" y="2655570"/>
            <a:ext cx="3012440" cy="2318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与银屑病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156970"/>
            <a:ext cx="8820150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流行病学</a:t>
            </a:r>
            <a:endParaRPr lang="en-US" altLang="zh-CN" sz="2000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IBD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患者中银屑病患病率：</a:t>
            </a:r>
            <a:endParaRPr lang="en-US" altLang="zh-CN" sz="20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克罗恩病（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CD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）：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3.6%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95% CI 3.1%-4.6%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溃疡性结肠炎（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UC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）：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2.8%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95% CI 2.0%-3.8%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7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银屑病患者中</a:t>
            </a: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IBD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患病率：</a:t>
            </a:r>
            <a:endParaRPr lang="en-US" altLang="zh-CN" sz="20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CD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0.7%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95% CI 0.2%-1.3%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UC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0.5%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95% CI 0.3%-0.8%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79815" y="6305156"/>
            <a:ext cx="3524884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 Alinaghi F, et al. J Crohns Colitis. 2020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Singh S, et al. JAMA Dermatology. 2018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Sun Y, et al. Sci Rep. 2022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51575" y="1591310"/>
            <a:ext cx="5689600" cy="4384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风险比值分析</a:t>
            </a:r>
            <a:endParaRPr lang="en-US" altLang="zh-CN" sz="20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CD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存在时银屑病风险：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OR 2.0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95% CI 1.4-2.9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UC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存在时银屑病风险：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OR 1.5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95% CI 1.2-2.0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银屑病存在时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CD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风险：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OR 2.2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95% CI 1.6-3.1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银屑病存在时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UC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风险：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OR 1.6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95% CI 1.3-2.0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孟德尔随机化分析</a:t>
            </a:r>
            <a:endParaRPr lang="en-US" altLang="zh-CN" sz="20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银屑病和银屑病关节炎因果性增加患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CD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的几率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克罗恩病因果性增加银屑病和银屑病关节炎的几率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存在剂量反应关系：严重银屑病患者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IBD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风险更高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与银屑病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2080" y="1384935"/>
            <a:ext cx="8820150" cy="5031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机制</a:t>
            </a:r>
            <a:r>
              <a:rPr lang="en-US" altLang="zh-CN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-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免疫炎症通路</a:t>
            </a:r>
            <a:endParaRPr lang="zh-CN" altLang="en-US" sz="20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屏障功能受损：</a:t>
            </a:r>
            <a:endParaRPr lang="en-US" altLang="zh-CN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IBD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：上皮细胞凋亡率增加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银屑病：角化不全，细胞间连接结构复杂性降低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结果：抗原和病原体跨膜通透性增加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IL-23/Th17/IL-17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轴激活：</a:t>
            </a:r>
            <a:endParaRPr lang="en-US" altLang="zh-CN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PRRs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激活免疫系统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IL-23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促进辅助性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细胞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-17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Th17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）形成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Th17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细胞产生效应细胞因子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IL-17</a:t>
            </a:r>
            <a:endParaRPr lang="en-US" altLang="zh-CN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[4] Dubash S, et al. Therapeutic Advances in Gastroenterology. 2022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9580" y="1350645"/>
            <a:ext cx="6727190" cy="3091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IL-17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的双重作用：</a:t>
            </a:r>
            <a:endParaRPr lang="en-US" altLang="zh-CN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银屑病：刺激角质形成细胞过度增殖和产生炎症因子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IBD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：参与肠道黏膜炎症反应和组织损伤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复杂性：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IL-17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在肠道炎症中可能也有保护作用，参与黏膜修复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0" name="图片 20"/>
          <p:cNvPicPr>
            <a:picLocks noChangeAspect="1"/>
          </p:cNvPicPr>
          <p:nvPr/>
        </p:nvPicPr>
        <p:blipFill>
          <a:blip r:embed="rId1"/>
          <a:srcRect r="785" b="1566"/>
          <a:stretch>
            <a:fillRect/>
          </a:stretch>
        </p:blipFill>
        <p:spPr>
          <a:xfrm>
            <a:off x="4954270" y="3609340"/>
            <a:ext cx="6983095" cy="31026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8952230" y="6643688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[4] Vlachos C, et al. Psoriasis (Auckl). 2016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与银屑病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3995" y="931545"/>
            <a:ext cx="6216015" cy="6315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9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机制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9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遗传易感性：共享遗传风险基因位点：</a:t>
            </a:r>
            <a:endParaRPr lang="en-US" altLang="zh-CN" sz="20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染色体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6p21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区域：包含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MHC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相关基因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银屑病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PSORS1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位点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 ——  IBD3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位点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全基因组关联研究确认的共同风险位点：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IL23R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IL12B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REL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TYK2</a:t>
            </a:r>
            <a:endParaRPr lang="en-US" altLang="zh-CN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800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3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微生物群失调</a:t>
            </a:r>
            <a:endParaRPr lang="en-US" altLang="zh-CN" sz="20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3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肠道微生物群改变：</a:t>
            </a:r>
            <a:endParaRPr lang="en-US" altLang="zh-CN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IBD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患者特征：厌氧细菌减少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CD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患者：厚壁菌门和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Clostridium leptum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种群减少，蛋白质原门种群增加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厚壁菌门产生抗炎性短链脂肪酸（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SCFA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SCFA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作用：支持肠干细胞功能、维护上皮屏障完整性、减轻炎症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3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49390" y="3514090"/>
            <a:ext cx="6096000" cy="2249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300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300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3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肠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皮轴概念：</a:t>
            </a:r>
            <a:endParaRPr lang="en-US" altLang="zh-CN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皮肤和肠道是人类共生微生物群落的两个主要生态位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IBD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患者菌群失调</a:t>
            </a:r>
            <a:r>
              <a:rPr lang="en-US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→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SCFA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产生减少</a:t>
            </a:r>
            <a:r>
              <a:rPr lang="en-US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→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加剧皮肤疾病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3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97925" y="6212840"/>
            <a:ext cx="512064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[5] Sun Y, et al. Sci Rep. 2022 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[6] Ellinghaus D, et al. Am J Hum Genet. 2012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[7] Jimenez-Sanchez M, et al. Gut Microbes. 2025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与银屑病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58505" y="6374130"/>
            <a:ext cx="512064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[8] Vlachos C, et al. Psoriasis (Auckl). 2016 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[9] Bezzio C, et al. Therap Adv Gastroenterol. 2024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0380" y="1156970"/>
            <a:ext cx="11037570" cy="56775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治疗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8730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共同有效的治疗药物</a:t>
            </a:r>
            <a:endParaRPr lang="zh-CN" altLang="en-US" sz="2000" b="1" dirty="0">
              <a:solidFill>
                <a:srgbClr val="87305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生物制剂： 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英夫利西单抗（抗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TNF-α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）：同时获批用于两种疾病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阿达木单抗（抗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TNF-α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）：双重适应症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传统药物：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 algn="l">
              <a:lnSpc>
                <a:spcPct val="150000"/>
              </a:lnSpc>
              <a:buClrTx/>
              <a:buSzTx/>
              <a:buFont typeface="Arial" panose="020B0604020202020204"/>
              <a:buChar char="◦"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甲氨蝶呤：免疫抑制剂，对两种疾病都有效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endParaRPr lang="zh-CN" altLang="en-US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8730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治疗矛盾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依那西普： 对银屑病有效，但对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IBD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抗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TNF-α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：治疗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IBD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时可能诱发银屑病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IL-17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抑制剂（如司库奇尤单抗）：治疗银屑病时可能诱发或加重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IBD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脊柱关节病（SpA）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35090" y="1884680"/>
            <a:ext cx="609600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轴性症状：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炎性腰背痛：夜间痛、晨僵超过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30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分钟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骶髂关节炎：臀部疼痛，可放射至大腿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脊柱活动受限，严重时导致脊柱畸形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外周症状：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外周关节炎：非对称性，主要累及下肢大关节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肌腱端炎：跟腱、足底筋膜等部位疼痛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23520" y="1833880"/>
            <a:ext cx="6211570" cy="40538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813165" y="6622098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[10] Cozzi G, et al. Nat Rev Rheumatol. 2023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脊柱关节病（SpA）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 descr="1-s2.0-S1568997225001132-gr1_lr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" y="1766570"/>
            <a:ext cx="8427720" cy="47542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11540" y="1902460"/>
            <a:ext cx="6096000" cy="3373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女性发病率略高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IBD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诊断时已存在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SpA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：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   OR=3.48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95% CI: 3.23-3.75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IBD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诊断后发生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SpA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风险：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   HR=7.15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95% CI: 6.60-7.75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CD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患者共病风险更高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HR=10.55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儿童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IBD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患者风险尤为突出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    HR=15.03</a:t>
            </a:r>
            <a:endParaRPr lang="en-US" altLang="zh-CN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0877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流行病学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227185" y="6437630"/>
            <a:ext cx="356997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[11] Orchard TR, et al. Gut. 1998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[12] Shrestha S, et al. J Crohns Colitis. 2022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脊柱关节病（SpA）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0877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机制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3" descr="1-s2.0-S1568997225001132-gr5_lr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8640" y="1188085"/>
            <a:ext cx="8567420" cy="52419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340610" y="6430010"/>
            <a:ext cx="752348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肠道炎症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免疫细胞活化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关节迁移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局部炎症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结构损伤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265285" y="6493510"/>
            <a:ext cx="3490595" cy="2755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[13]Mitsuhiro Akiyama.Autoimmun Rev. 2025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脊柱关节病（SpA）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0877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治疗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4" descr="1-s2.0-S1568997225001132-gr6_lr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610" y="1553210"/>
            <a:ext cx="6422390" cy="4055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265285" y="6493510"/>
            <a:ext cx="3490595" cy="2755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[13]Mitsuhiro Akiyama.Autoimmun Rev. 2025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0180" y="1889125"/>
            <a:ext cx="6292850" cy="39306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30000"/>
              </a:lnSpc>
              <a:buFont typeface="Arial" panose="020B0604020202020204"/>
              <a:buChar char="•"/>
            </a:pPr>
            <a:r>
              <a:rPr lang="en-US" altLang="zh-CN" sz="16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NSAID</a:t>
            </a:r>
            <a:r>
              <a:rPr lang="zh-CN" altLang="en-US" sz="16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SpA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一线治疗，但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IBD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需慎用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胃肠道副作用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)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 algn="l">
              <a:lnSpc>
                <a:spcPct val="130000"/>
              </a:lnSpc>
              <a:buClrTx/>
              <a:buSzTx/>
              <a:buFont typeface="Arial" panose="020B0604020202020204"/>
              <a:buChar char="◦"/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COX-2选择性抑制剂：在IBD患者中耐受性改善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30000"/>
              </a:lnSpc>
              <a:buFont typeface="Arial" panose="020B0604020202020204"/>
              <a:buChar char="•"/>
            </a:pPr>
            <a:endParaRPr lang="zh-CN" altLang="en-US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30000"/>
              </a:lnSpc>
              <a:buFont typeface="Arial" panose="020B0604020202020204"/>
              <a:buChar char="•"/>
            </a:pPr>
            <a:r>
              <a:rPr lang="en-US" altLang="zh-CN" sz="16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DMARD</a:t>
            </a:r>
            <a:r>
              <a:rPr lang="zh-CN" altLang="en-US" sz="16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MTX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SSZ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SpA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外周有效，对中轴无效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30000"/>
              </a:lnSpc>
              <a:buFont typeface="Arial" panose="020B0604020202020204"/>
              <a:buChar char="•"/>
            </a:pPr>
            <a:endParaRPr lang="zh-CN" altLang="en-US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30000"/>
              </a:lnSpc>
              <a:buFont typeface="Arial" panose="020B0604020202020204"/>
              <a:buChar char="•"/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生物制剂： 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 algn="l">
              <a:lnSpc>
                <a:spcPct val="130000"/>
              </a:lnSpc>
              <a:buClrTx/>
              <a:buSzTx/>
              <a:buFont typeface="Arial" panose="020B0604020202020204"/>
              <a:buChar char="◦"/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IL-17抑制剂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SpA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有效，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可能加重IBD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 algn="l">
              <a:lnSpc>
                <a:spcPct val="130000"/>
              </a:lnSpc>
              <a:buClrTx/>
              <a:buSzTx/>
              <a:buFont typeface="Arial" panose="020B0604020202020204"/>
              <a:buChar char="◦"/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α4β7整合素抑制剂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IBD 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有效，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可能诱发SpA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30000"/>
              </a:lnSpc>
              <a:buFont typeface="Arial" panose="020B0604020202020204"/>
              <a:buChar char="◦"/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IL-12/23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抑制剂（优特克单抗）：外周有效，轴性无效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30000"/>
              </a:lnSpc>
              <a:buFont typeface="Arial" panose="020B0604020202020204"/>
              <a:buChar char="◦"/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JAK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抑制剂（托法替尼）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✓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30000"/>
              </a:lnSpc>
              <a:buFont typeface="Arial" panose="020B0604020202020204"/>
              <a:buChar char="◦"/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TNF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抑制剂（英夫利西单抗、阿达木单抗）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✓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 algn="l">
              <a:lnSpc>
                <a:spcPct val="130000"/>
              </a:lnSpc>
              <a:buClrTx/>
              <a:buSzTx/>
              <a:buFont typeface="Arial" panose="020B0604020202020204"/>
              <a:buChar char="◦"/>
            </a:pPr>
            <a:endParaRPr lang="en-US" altLang="zh-CN" sz="16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与原发性硬化性胆管炎（</a:t>
            </a: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PSC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0060" y="188468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PSC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特征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慢性进展性胆汁淤积型肝病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胆管弥漫性炎症和纤维化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可进展至肝硬化和肝衰竭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endParaRPr lang="en-US" altLang="zh-CN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临床表现</a:t>
            </a:r>
            <a:endParaRPr lang="en-US" altLang="zh-CN" sz="20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早期：无症状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进展期：疲劳、瘙痒、发烧、体重减轻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晚期：腹痛、黄疸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81075" y="1581785"/>
            <a:ext cx="4980305" cy="4279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与原发性硬化性胆管炎（</a:t>
            </a: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PSC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11910" y="1889125"/>
            <a:ext cx="5080000" cy="4246245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PSC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患者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IBD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患病率：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71.1%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UC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更常见：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55.9%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CD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：相对较少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 indent="0">
              <a:lnSpc>
                <a:spcPct val="150000"/>
              </a:lnSpc>
              <a:buFont typeface="Arial" panose="020B0604020202020204"/>
              <a:buNone/>
            </a:pP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IBD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患者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PSC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患病率：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2.16%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UC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患者：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2.47%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CD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患者：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0.96%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PSC-IBD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男性更常见（男女比例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2:1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0877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流行病学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48190" y="6530023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[14] Zhang Y, et al. Liver Int. 2022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与原发性硬化性胆管炎（</a:t>
            </a: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PSC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915" y="1485900"/>
            <a:ext cx="5316220" cy="540194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遗传：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HLA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基因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免疫：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Th17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过度活化，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Treg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功能抑制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微生物：韦荣球菌</a:t>
            </a:r>
            <a:r>
              <a:rPr lang="en-US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↑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4.8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倍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肠肝轴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肝脏端：</a:t>
            </a:r>
            <a:endParaRPr lang="en-US" altLang="zh-CN" sz="20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20000"/>
              </a:lnSpc>
              <a:buFont typeface="Arial" panose="020B0604020202020204"/>
              <a:buChar char="•"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遗传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&amp;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免疫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胆汁酸稳态受损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20000"/>
              </a:lnSpc>
              <a:buFont typeface="Arial" panose="020B0604020202020204"/>
              <a:buChar char="•"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影响肠道微生物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肠道端：</a:t>
            </a:r>
            <a:endParaRPr lang="en-US" altLang="zh-CN" sz="20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2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生态失调加剧肠道屏障功能受损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2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微生物和毒素易位增加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循环反馈：</a:t>
            </a:r>
            <a:endParaRPr lang="en-US" altLang="zh-CN" sz="20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2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活化的肠道淋巴细胞通过门静脉迁移到肝脏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2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进一步加重胆管和肝脏炎症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2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形成恶性循环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9861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发病机制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48190" y="6530023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[14] Zhang Y, et al. Liver Int. 2022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1900" y="1209040"/>
            <a:ext cx="7150100" cy="5269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与原发性硬化性胆管炎（</a:t>
            </a: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PSC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" y="107823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治疗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48190" y="6530023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[14] Zhang Y, et al. Liver Int. 2022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9185" y="1201420"/>
            <a:ext cx="11408410" cy="557212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目前尚无经验证的治疗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PSC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的特效药物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熊去氧胆酸（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UDCA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PSC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常用 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4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刺激肝细胞和胆管细胞分泌、抗细胞凋亡、降低胆汁酸毒性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4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主要改善生化指标，对长期预后影响有限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生物制剂：仅治疗与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PSC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相关的结肠炎，但不能改善胆汁淤积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免疫抑制剂：未能证实有效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对症治疗： 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4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瘙痒控制：胆汁酸螯合剂、抗组胺药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4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疲劳管理：营养支持、维生素补充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4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并发症处理：胆管炎、胆道梗阻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终末期治疗： 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4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肝移植是唯一根治性治疗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40000"/>
              </a:lnSpc>
              <a:buFont typeface="Arial" panose="020B0604020202020204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移植后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PSC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复发率约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20-30%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IgA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肾病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0060" y="2397760"/>
            <a:ext cx="6096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起病隐匿，易延误诊治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肾小球系膜区弥漫性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IgA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沉积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发作性短暂肉眼血尿和镜下血尿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20-30%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患者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20-25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年进展至肾衰竭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302895" y="1575435"/>
            <a:ext cx="6350000" cy="441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IgA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肾病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0877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流行病学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6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635" y="1163955"/>
            <a:ext cx="10116185" cy="56940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IgA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肾病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861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发病机制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1165" y="1685925"/>
            <a:ext cx="11236325" cy="495427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遗传：</a:t>
            </a:r>
            <a:endParaRPr lang="zh-CN" altLang="en-US" sz="20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CARD9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TNFSF8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ZMIZ1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Ap1m2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等共同易感基因，通过固有免疫反应、黏膜免疫反应、炎症因子等相互联系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肠相关淋巴组织免疫反应促进</a:t>
            </a:r>
            <a:r>
              <a:rPr lang="en-US" altLang="zh-CN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Gd-IgA1</a:t>
            </a: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的产生</a:t>
            </a:r>
            <a:endParaRPr lang="zh-CN" altLang="en-US" sz="20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IgA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主要分布在黏膜区域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IBD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患者肠道黏膜免疫失调，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IgA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产生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↑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抗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Gd-IgA1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自身抗体产生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→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形成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IgA1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免疫复合物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IgA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肾小球沉积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肾损害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屏障破坏</a:t>
            </a:r>
            <a:endParaRPr lang="zh-CN" altLang="en-US" sz="20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肠道通透性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↑→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免疫原暴露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↑→IgA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产生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↑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IBD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IgA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肾病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9555" y="11569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87305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治疗</a:t>
            </a:r>
            <a:endParaRPr lang="zh-CN" altLang="en-US" sz="2400" b="1" dirty="0">
              <a:solidFill>
                <a:srgbClr val="87305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3975" y="1494790"/>
            <a:ext cx="11236325" cy="504634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en-US" altLang="zh-CN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IgAN</a:t>
            </a: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治疗对</a:t>
            </a:r>
            <a:r>
              <a:rPr lang="en-US" altLang="zh-CN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IBD</a:t>
            </a: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的影响</a:t>
            </a:r>
            <a:endParaRPr lang="en-US" altLang="zh-CN" sz="20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有利：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ACEI/ARB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可能改善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IBD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预后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有害：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MMF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具有胃肠道毒性，可诱发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MMF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相关性结肠炎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IBD</a:t>
            </a: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治疗对</a:t>
            </a:r>
            <a:r>
              <a:rPr lang="en-US" altLang="zh-CN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IgAN</a:t>
            </a: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的影响</a:t>
            </a:r>
            <a:endParaRPr lang="en-US" altLang="zh-CN" sz="20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有害：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3" indent="0">
              <a:lnSpc>
                <a:spcPct val="150000"/>
              </a:lnSpc>
              <a:buNone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环孢素：肾毒性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3" indent="0">
              <a:lnSpc>
                <a:spcPct val="150000"/>
              </a:lnSpc>
              <a:buNone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抗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TNF-α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：可能加重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IgAN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有利：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3" indent="0">
              <a:lnSpc>
                <a:spcPct val="150000"/>
              </a:lnSpc>
              <a:buNone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糖皮质激素：改善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IgAN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3" indent="0">
              <a:lnSpc>
                <a:spcPct val="150000"/>
              </a:lnSpc>
              <a:buNone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他克莫司：可能有积极影响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研究结果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Box 127">
            <a:hlinkClick r:id="" action="ppaction://hlinkshowjump?jump=nextslide"/>
          </p:cNvPr>
          <p:cNvSpPr txBox="1"/>
          <p:nvPr/>
        </p:nvSpPr>
        <p:spPr>
          <a:xfrm>
            <a:off x="925030" y="1547827"/>
            <a:ext cx="9654363" cy="713105"/>
          </a:xfrm>
          <a:prstGeom prst="rect">
            <a:avLst/>
          </a:prstGeom>
          <a:noFill/>
        </p:spPr>
        <p:txBody>
          <a:bodyPr wrap="square" lIns="68564" tIns="34282" rIns="68564" bIns="34282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主要结果展示</a:t>
            </a:r>
            <a:endParaRPr lang="zh-CN" sz="28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待解决问题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Box 127">
            <a:hlinkClick r:id="" action="ppaction://hlinkshowjump?jump=nextslide"/>
          </p:cNvPr>
          <p:cNvSpPr txBox="1"/>
          <p:nvPr/>
        </p:nvSpPr>
        <p:spPr>
          <a:xfrm>
            <a:off x="925030" y="1547827"/>
            <a:ext cx="9654363" cy="1359535"/>
          </a:xfrm>
          <a:prstGeom prst="rect">
            <a:avLst/>
          </a:prstGeom>
          <a:noFill/>
        </p:spPr>
        <p:txBody>
          <a:bodyPr wrap="square" lIns="68564" tIns="34282" rIns="68564" bIns="34282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列出待解决问题</a:t>
            </a:r>
            <a:endParaRPr lang="en-US" altLang="zh-CN" sz="2800" b="1" dirty="0">
              <a:solidFill>
                <a:schemeClr val="tx1"/>
              </a:solidFill>
              <a:uFillTx/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提出可能的解决方案</a:t>
            </a:r>
            <a:endParaRPr lang="en-US" altLang="zh-CN" sz="2800" b="1" dirty="0">
              <a:solidFill>
                <a:schemeClr val="tx1"/>
              </a:solidFill>
              <a:uFillTx/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-1"/>
            <a:ext cx="12204703" cy="1156987"/>
          </a:xfrm>
          <a:prstGeom prst="rect">
            <a:avLst/>
          </a:prstGeom>
          <a:gradFill flip="none" rotWithShape="1">
            <a:gsLst>
              <a:gs pos="0">
                <a:srgbClr val="933E5E">
                  <a:shade val="30000"/>
                  <a:satMod val="115000"/>
                </a:srgbClr>
              </a:gs>
              <a:gs pos="34000">
                <a:srgbClr val="933E5E">
                  <a:shade val="67500"/>
                  <a:satMod val="115000"/>
                </a:srgbClr>
              </a:gs>
              <a:gs pos="79000">
                <a:srgbClr val="933E5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" name="文本框 3"/>
          <p:cNvSpPr txBox="1"/>
          <p:nvPr/>
        </p:nvSpPr>
        <p:spPr>
          <a:xfrm>
            <a:off x="0" y="224549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研究计划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Box 127">
            <a:hlinkClick r:id="" action="ppaction://hlinkshowjump?jump=nextslide"/>
          </p:cNvPr>
          <p:cNvSpPr txBox="1"/>
          <p:nvPr/>
        </p:nvSpPr>
        <p:spPr>
          <a:xfrm>
            <a:off x="925030" y="1547827"/>
            <a:ext cx="9654363" cy="1359535"/>
          </a:xfrm>
          <a:prstGeom prst="rect">
            <a:avLst/>
          </a:prstGeom>
          <a:noFill/>
        </p:spPr>
        <p:txBody>
          <a:bodyPr wrap="square" lIns="68564" tIns="34282" rIns="68564" bIns="34282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下一步研究计划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预计完成时间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5466275" y="4801358"/>
            <a:ext cx="1967163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透明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261" y="88419"/>
            <a:ext cx="1523243" cy="153856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010" y="2157930"/>
            <a:ext cx="12192000" cy="1306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6000" b="1" dirty="0">
                <a:solidFill>
                  <a:srgbClr val="87415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谢谢！</a:t>
            </a:r>
            <a:endParaRPr lang="zh-CN" altLang="en-US" sz="6000" b="1" dirty="0">
              <a:solidFill>
                <a:srgbClr val="87415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COMMONDATA" val="eyJoZGlkIjoiZGM5MDc1ZDExNjUxYmM1OTk1ZGEyNDVjOGM4OThkYWYifQ=="/>
  <p:tag name="resource_record_key" val="{&quot;13&quot;:[4364942]}"/>
</p:tagLst>
</file>

<file path=ppt/theme/theme1.xml><?xml version="1.0" encoding="utf-8"?>
<a:theme xmlns:a="http://schemas.openxmlformats.org/drawingml/2006/main" name="清风素材 https://12sc.taobao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3609</Words>
  <Application>WPS 演示</Application>
  <PresentationFormat>宽屏</PresentationFormat>
  <Paragraphs>302</Paragraphs>
  <Slides>24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Times New Roman</vt:lpstr>
      <vt:lpstr>华文中宋</vt:lpstr>
      <vt:lpstr>Arial</vt:lpstr>
      <vt:lpstr>Calibri</vt:lpstr>
      <vt:lpstr>Arial Unicode MS</vt:lpstr>
      <vt:lpstr>Wingdings</vt:lpstr>
      <vt:lpstr>等线 Light</vt:lpstr>
      <vt:lpstr>Calibri Light</vt:lpstr>
      <vt:lpstr>等线</vt:lpstr>
      <vt:lpstr>清风素材 https://12sc.taobao.com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dabian</dc:title>
  <dc:creator>清风素材;12sc.taobao.com</dc:creator>
  <cp:keywords>12sc.taobao.com</cp:keywords>
  <dc:description>12sc.taobao.com</dc:description>
  <dc:subject>12sc.taobao.com</dc:subject>
  <cp:category>12sc.taobao.com</cp:category>
  <cp:lastModifiedBy>Ww</cp:lastModifiedBy>
  <cp:revision>1549</cp:revision>
  <dcterms:created xsi:type="dcterms:W3CDTF">2013-10-25T14:41:00Z</dcterms:created>
  <dcterms:modified xsi:type="dcterms:W3CDTF">2025-09-11T17:47:35Z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BCEF9D94C91542F6A2E638CBA3E06EE4_13</vt:lpwstr>
  </property>
</Properties>
</file>